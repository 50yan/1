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各位朋友，今天让我们一起走进北京的心脏——天安门。</a:t>
            </a:r>
          </a:p>
          <a:p>
            <a:endParaRPr lang="zh-CN" dirty="0"/>
          </a:p>
          <a:p>
            <a:r>
              <a:rPr lang="zh-CN" dirty="0"/>
              <a:t>天安门不仅是一座宏伟的建筑，更是中华民族精神的象征。它见证了中国数百年的沧桑巨变，承载着一个民族的尊严与梦想。</a:t>
            </a:r>
          </a:p>
          <a:p>
            <a:endParaRPr lang="zh-CN" dirty="0"/>
          </a:p>
          <a:p>
            <a:r>
              <a:rPr lang="zh-CN" dirty="0"/>
              <a:t>首先映入眼帘的是天安门广场，这是世界最大的城市广场，面积达到44万平方米，可容纳上百万人。广场四周环绕着人民英雄纪念碑、毛主席纪念堂、国家博物馆和人民大会堂，每一座建筑都承载着厚重的历史记忆。</a:t>
            </a:r>
          </a:p>
          <a:p>
            <a:endParaRPr lang="zh-CN" dirty="0"/>
          </a:p>
          <a:p>
            <a:r>
              <a:rPr lang="zh-CN" dirty="0"/>
              <a:t>再看天安门城楼，它始建于明代永乐十五年，也就是1417年，最初叫做"承天门"，清朝重建后才改称"天安门"。城楼高34.7米，面阔九间、进深五间，这个"九五"之数在中国传统文化中象征着至高无上的尊贵地位。</a:t>
            </a:r>
          </a:p>
          <a:p>
            <a:endParaRPr lang="zh-CN" dirty="0"/>
          </a:p>
          <a:p>
            <a:r>
              <a:rPr lang="zh-CN" dirty="0"/>
              <a:t>而说到天安门最辉煌的历史时刻，莫过于1949年10月1日，毛泽东主席在这里向全世界庄严宣告中华人民共和国的成立。从那一刻起，天安门就成为了新中国诞生的见证者，它所承载的爱国情怀和复兴梦想，至今依然激励着每一个中国人。</a:t>
            </a:r>
          </a:p>
          <a:p>
            <a:endParaRPr lang="zh-CN" dirty="0"/>
          </a:p>
          <a:p>
            <a:r>
              <a:rPr lang="zh-CN" dirty="0"/>
              <a:t>这就是天安门——一座城楼，一个广场，一段历史，一个民族的骄傲。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5E6"/>
              </a:gs>
              <a:gs pos="60000">
                <a:srgbClr val="F5F0E8"/>
              </a:gs>
              <a:gs pos="100000">
                <a:srgbClr val="EDE5D5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4A017">
                  <a:alpha val="20000"/>
                </a:srgbClr>
              </a:gs>
              <a:gs pos="100000">
                <a:srgbClr val="D4A01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57150"/>
            <a:ext cx="12192000" cy="28575"/>
          </a:xfrm>
          <a:prstGeom prst="rect">
            <a:avLst/>
          </a:prstGeom>
          <a:solidFill>
            <a:srgbClr val="D4A017">
              <a:alpha val="60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1333500" y="381000"/>
            <a:ext cx="9525000" cy="190500"/>
          </a:xfrm>
          <a:custGeom>
            <a:avLst/>
            <a:gdLst/>
            <a:ahLst/>
            <a:cxnLst/>
            <a:rect l="l" t="t" r="r" b="b"/>
            <a:pathLst>
              <a:path w="9525000" h="190500">
                <a:moveTo>
                  <a:pt x="0" y="190500"/>
                </a:moveTo>
                <a:cubicBezTo>
                  <a:pt x="3175000" y="0"/>
                  <a:pt x="6350000" y="0"/>
                  <a:pt x="9525000" y="190500"/>
                </a:cubicBezTo>
              </a:path>
            </a:pathLst>
          </a:custGeom>
          <a:noFill/>
          <a:ln w="19050">
            <a:solidFill>
              <a:srgbClr val="D4A017">
                <a:alpha val="50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1524000" y="482600"/>
            <a:ext cx="9144000" cy="165100"/>
          </a:xfrm>
          <a:custGeom>
            <a:avLst/>
            <a:gdLst/>
            <a:ahLst/>
            <a:cxnLst/>
            <a:rect l="l" t="t" r="r" b="b"/>
            <a:pathLst>
              <a:path w="9144000" h="165100">
                <a:moveTo>
                  <a:pt x="0" y="165100"/>
                </a:moveTo>
                <a:cubicBezTo>
                  <a:pt x="3048000" y="0"/>
                  <a:pt x="6096000" y="0"/>
                  <a:pt x="9144000" y="165100"/>
                </a:cubicBezTo>
              </a:path>
            </a:pathLst>
          </a:custGeom>
          <a:noFill/>
          <a:ln w="14288">
            <a:solidFill>
              <a:srgbClr val="D4A017">
                <a:alpha val="35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1333500" y="5715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14288">
            <a:solidFill>
              <a:srgbClr val="D4A017">
                <a:alpha val="40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10858500" y="5715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14288">
            <a:solidFill>
              <a:srgbClr val="D4A017">
                <a:alpha val="40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1285875" y="476250"/>
            <a:ext cx="95250" cy="9525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304925" y="495300"/>
            <a:ext cx="57150" cy="5715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0810875" y="476250"/>
            <a:ext cx="95250" cy="9525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0829925" y="495300"/>
            <a:ext cx="57150" cy="5715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3524250" y="2286000"/>
            <a:ext cx="5143500" cy="2667000"/>
          </a:xfrm>
          <a:prstGeom prst="rect">
            <a:avLst/>
          </a:prstGeom>
          <a:gradFill>
            <a:gsLst>
              <a:gs pos="0">
                <a:srgbClr val="C41E3A"/>
              </a:gs>
              <a:gs pos="100000">
                <a:srgbClr val="8B0000"/>
              </a:gs>
            </a:gsLst>
            <a:lin ang="5400000" scaled="1"/>
          </a:gra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476750" y="3238500"/>
            <a:ext cx="1047750" cy="1714500"/>
          </a:xfrm>
          <a:prstGeom prst="roundRect">
            <a:avLst>
              <a:gd name="adj" fmla="val 50000"/>
            </a:avLst>
          </a:prstGeom>
          <a:solidFill>
            <a:srgbClr val="5C0E1F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572125" y="3048000"/>
            <a:ext cx="1047750" cy="1905000"/>
          </a:xfrm>
          <a:prstGeom prst="roundRect">
            <a:avLst>
              <a:gd name="adj" fmla="val 50000"/>
            </a:avLst>
          </a:prstGeom>
          <a:solidFill>
            <a:srgbClr val="5C0E1F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667500" y="3238500"/>
            <a:ext cx="1047750" cy="1714500"/>
          </a:xfrm>
          <a:prstGeom prst="roundRect">
            <a:avLst>
              <a:gd name="adj" fmla="val 50000"/>
            </a:avLst>
          </a:prstGeom>
          <a:solidFill>
            <a:srgbClr val="5C0E1F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4457700" y="3238500"/>
            <a:ext cx="1085850" cy="28575"/>
          </a:xfrm>
          <a:prstGeom prst="rect">
            <a:avLst/>
          </a:prstGeom>
          <a:solidFill>
            <a:srgbClr val="D4A017">
              <a:alpha val="60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553075" y="3048000"/>
            <a:ext cx="1085850" cy="28575"/>
          </a:xfrm>
          <a:prstGeom prst="rect">
            <a:avLst/>
          </a:prstGeom>
          <a:solidFill>
            <a:srgbClr val="D4A017">
              <a:alpha val="60000"/>
            </a:srgbClr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648450" y="3238500"/>
            <a:ext cx="1085850" cy="28575"/>
          </a:xfrm>
          <a:prstGeom prst="rect">
            <a:avLst/>
          </a:prstGeom>
          <a:solidFill>
            <a:srgbClr val="D4A017">
              <a:alpha val="60000"/>
            </a:srgbClr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3810000" y="1238250"/>
            <a:ext cx="4572000" cy="109537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3524250" y="809625"/>
            <a:ext cx="5143500" cy="428625"/>
          </a:xfrm>
          <a:custGeom>
            <a:avLst/>
            <a:gdLst/>
            <a:ahLst/>
            <a:cxnLst/>
            <a:rect l="l" t="t" r="r" b="b"/>
            <a:pathLst>
              <a:path w="5143500" h="428625">
                <a:moveTo>
                  <a:pt x="0" y="428625"/>
                </a:moveTo>
                <a:lnTo>
                  <a:pt x="2571750" y="0"/>
                </a:lnTo>
                <a:lnTo>
                  <a:pt x="5143500" y="428625"/>
                </a:lnTo>
                <a:close/>
              </a:path>
            </a:pathLst>
          </a:custGeom>
          <a:solidFill>
            <a:srgbClr val="8B4500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3571875" y="838200"/>
            <a:ext cx="5048250" cy="400050"/>
          </a:xfrm>
          <a:custGeom>
            <a:avLst/>
            <a:gdLst/>
            <a:ahLst/>
            <a:cxnLst/>
            <a:rect l="l" t="t" r="r" b="b"/>
            <a:pathLst>
              <a:path w="5048250" h="400050">
                <a:moveTo>
                  <a:pt x="0" y="400050"/>
                </a:moveTo>
                <a:lnTo>
                  <a:pt x="2524125" y="0"/>
                </a:lnTo>
                <a:lnTo>
                  <a:pt x="5048250" y="400050"/>
                </a:lnTo>
                <a:close/>
              </a:path>
            </a:pathLst>
          </a:custGeom>
          <a:solidFill>
            <a:srgbClr val="D4A017">
              <a:alpha val="85000"/>
            </a:srgbClr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6038850" y="752475"/>
            <a:ext cx="114300" cy="11430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6067425" y="781050"/>
            <a:ext cx="57150" cy="57150"/>
          </a:xfrm>
          <a:prstGeom prst="ellipse">
            <a:avLst/>
          </a:prstGeom>
          <a:solidFill>
            <a:srgbClr val="FFF5E6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4000500" y="1428750"/>
            <a:ext cx="57150" cy="904875"/>
          </a:xfrm>
          <a:prstGeom prst="rect">
            <a:avLst/>
          </a:prstGeom>
          <a:solidFill>
            <a:srgbClr val="8B450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4667250" y="1428750"/>
            <a:ext cx="57150" cy="904875"/>
          </a:xfrm>
          <a:prstGeom prst="rect">
            <a:avLst/>
          </a:prstGeom>
          <a:solidFill>
            <a:srgbClr val="8B4500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5334000" y="1428750"/>
            <a:ext cx="57150" cy="904875"/>
          </a:xfrm>
          <a:prstGeom prst="rect">
            <a:avLst/>
          </a:prstGeom>
          <a:solidFill>
            <a:srgbClr val="8B450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6000750" y="1428750"/>
            <a:ext cx="57150" cy="904875"/>
          </a:xfrm>
          <a:prstGeom prst="rect">
            <a:avLst/>
          </a:prstGeom>
          <a:solidFill>
            <a:srgbClr val="8B4500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6667500" y="1428750"/>
            <a:ext cx="57150" cy="904875"/>
          </a:xfrm>
          <a:prstGeom prst="rect">
            <a:avLst/>
          </a:prstGeom>
          <a:solidFill>
            <a:srgbClr val="8B450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7334250" y="1428750"/>
            <a:ext cx="57150" cy="904875"/>
          </a:xfrm>
          <a:prstGeom prst="rect">
            <a:avLst/>
          </a:prstGeom>
          <a:solidFill>
            <a:srgbClr val="8B4500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8001000" y="1428750"/>
            <a:ext cx="57150" cy="904875"/>
          </a:xfrm>
          <a:prstGeom prst="rect">
            <a:avLst/>
          </a:prstGeom>
          <a:solidFill>
            <a:srgbClr val="8B4500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4238625" y="1571625"/>
            <a:ext cx="333375" cy="428625"/>
          </a:xfrm>
          <a:prstGeom prst="roundRect">
            <a:avLst>
              <a:gd name="adj" fmla="val 8571"/>
            </a:avLst>
          </a:prstGeom>
          <a:solidFill>
            <a:srgbClr val="5C0E1F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4905375" y="1571625"/>
            <a:ext cx="333375" cy="428625"/>
          </a:xfrm>
          <a:prstGeom prst="roundRect">
            <a:avLst>
              <a:gd name="adj" fmla="val 8571"/>
            </a:avLst>
          </a:prstGeom>
          <a:solidFill>
            <a:srgbClr val="5C0E1F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5572125" y="1571625"/>
            <a:ext cx="333375" cy="428625"/>
          </a:xfrm>
          <a:prstGeom prst="roundRect">
            <a:avLst>
              <a:gd name="adj" fmla="val 8571"/>
            </a:avLst>
          </a:prstGeom>
          <a:solidFill>
            <a:srgbClr val="5C0E1F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6238875" y="1571625"/>
            <a:ext cx="333375" cy="428625"/>
          </a:xfrm>
          <a:prstGeom prst="roundRect">
            <a:avLst>
              <a:gd name="adj" fmla="val 8571"/>
            </a:avLst>
          </a:prstGeom>
          <a:solidFill>
            <a:srgbClr val="5C0E1F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905625" y="1571625"/>
            <a:ext cx="333375" cy="428625"/>
          </a:xfrm>
          <a:prstGeom prst="roundRect">
            <a:avLst>
              <a:gd name="adj" fmla="val 8571"/>
            </a:avLst>
          </a:prstGeom>
          <a:solidFill>
            <a:srgbClr val="5C0E1F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572375" y="1571625"/>
            <a:ext cx="333375" cy="428625"/>
          </a:xfrm>
          <a:prstGeom prst="roundRect">
            <a:avLst>
              <a:gd name="adj" fmla="val 8571"/>
            </a:avLst>
          </a:prstGeom>
          <a:solidFill>
            <a:srgbClr val="5C0E1F"/>
          </a:solidFill>
          <a:ln>
            <a:noFill/>
          </a:ln>
        </p:spPr>
      </p:sp>
      <p:sp>
        <p:nvSpPr>
          <p:cNvPr id="39" name="Line 39"/>
          <p:cNvSpPr/>
          <p:nvPr/>
        </p:nvSpPr>
        <p:spPr>
          <a:xfrm>
            <a:off x="6096000" y="523875"/>
            <a:ext cx="9525" cy="714375"/>
          </a:xfrm>
          <a:custGeom>
            <a:avLst/>
            <a:gdLst/>
            <a:ahLst/>
            <a:cxnLst/>
            <a:rect l="l" t="t" r="r" b="b"/>
            <a:pathLst>
              <a:path w="9525" h="714375">
                <a:moveTo>
                  <a:pt x="0" y="71437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333333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105525" y="523875"/>
            <a:ext cx="285750" cy="1905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41" name="Polygon 41"/>
          <p:cNvSpPr/>
          <p:nvPr/>
        </p:nvSpPr>
        <p:spPr>
          <a:xfrm>
            <a:off x="6153150" y="571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>
            <a:srgbClr val="D4A017">
              <a:alpha val="90000"/>
            </a:srgbClr>
          </a:solidFill>
          <a:ln>
            <a:noFill/>
          </a:ln>
        </p:spPr>
      </p:sp>
      <p:grpSp>
        <p:nvGrpSpPr>
          <p:cNvPr id="47" name="Group 47"/>
          <p:cNvGrpSpPr/>
          <p:nvPr/>
        </p:nvGrpSpPr>
        <p:grpSpPr>
          <a:xfrm>
            <a:off x="1571625" y="1390650"/>
            <a:ext cx="9001125" cy="438150"/>
            <a:chOff x="1571625" y="1390650"/>
            <a:chExt cx="9001125" cy="438150"/>
          </a:xfrm>
        </p:grpSpPr>
        <p:sp>
          <p:nvSpPr>
            <p:cNvPr id="42" name="Ellipse 42"/>
            <p:cNvSpPr/>
            <p:nvPr/>
          </p:nvSpPr>
          <p:spPr>
            <a:xfrm>
              <a:off x="1571625" y="1600200"/>
              <a:ext cx="666750" cy="228600"/>
            </a:xfrm>
            <a:prstGeom prst="ellipse">
              <a:avLst/>
            </a:prstGeom>
            <a:solidFill>
              <a:srgbClr val="D4A017">
                <a:alpha val="12000"/>
              </a:srgb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857375" y="1571625"/>
              <a:ext cx="476250" cy="190500"/>
            </a:xfrm>
            <a:prstGeom prst="ellipse">
              <a:avLst/>
            </a:prstGeom>
            <a:solidFill>
              <a:srgbClr val="D4A017">
                <a:alpha val="12000"/>
              </a:srgbClr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9810750" y="1428750"/>
              <a:ext cx="571500" cy="190500"/>
            </a:xfrm>
            <a:prstGeom prst="ellipse">
              <a:avLst/>
            </a:prstGeom>
            <a:solidFill>
              <a:srgbClr val="D4A017">
                <a:alpha val="12000"/>
              </a:srgbClr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0096500" y="1390650"/>
              <a:ext cx="476250" cy="171450"/>
            </a:xfrm>
            <a:prstGeom prst="ellipse">
              <a:avLst/>
            </a:prstGeom>
            <a:solidFill>
              <a:srgbClr val="D4A017">
                <a:alpha val="12000"/>
              </a:srgbClr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0048875" y="1524000"/>
              <a:ext cx="381000" cy="152400"/>
            </a:xfrm>
            <a:prstGeom prst="ellipse">
              <a:avLst/>
            </a:prstGeom>
            <a:solidFill>
              <a:srgbClr val="D4A017">
                <a:alpha val="12000"/>
              </a:srgbClr>
            </a:solidFill>
            <a:ln>
              <a:noFill/>
            </a:ln>
          </p:spPr>
        </p:sp>
      </p:grpSp>
      <p:sp>
        <p:nvSpPr>
          <p:cNvPr id="48" name="Rectangle 48"/>
          <p:cNvSpPr/>
          <p:nvPr/>
        </p:nvSpPr>
        <p:spPr>
          <a:xfrm>
            <a:off x="0" y="3619500"/>
            <a:ext cx="12192000" cy="3238500"/>
          </a:xfrm>
          <a:prstGeom prst="rect">
            <a:avLst/>
          </a:prstGeom>
          <a:gradFill>
            <a:gsLst>
              <a:gs pos="0">
                <a:srgbClr val="C41E3A">
                  <a:alpha val="0"/>
                </a:srgbClr>
              </a:gs>
              <a:gs pos="55000">
                <a:srgbClr val="C41E3A">
                  <a:alpha val="75000"/>
                </a:srgbClr>
              </a:gs>
              <a:gs pos="100000">
                <a:srgbClr val="8B0000">
                  <a:alpha val="92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4857750" y="3695700"/>
            <a:ext cx="2476500" cy="19050"/>
          </a:xfrm>
          <a:prstGeom prst="rect">
            <a:avLst/>
          </a:prstGeom>
          <a:gradFill>
            <a:gsLst>
              <a:gs pos="0">
                <a:srgbClr val="D4A017">
                  <a:alpha val="0"/>
                </a:srgbClr>
              </a:gs>
              <a:gs pos="20000">
                <a:srgbClr val="D4A017">
                  <a:alpha val="80000"/>
                </a:srgbClr>
              </a:gs>
              <a:gs pos="50000">
                <a:srgbClr val="D4A017"/>
              </a:gs>
              <a:gs pos="80000">
                <a:srgbClr val="D4A017">
                  <a:alpha val="80000"/>
                </a:srgbClr>
              </a:gs>
              <a:gs pos="100000">
                <a:srgbClr val="D4A017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5093732" y="3705225"/>
            <a:ext cx="2004536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天安门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461748" y="4362450"/>
            <a:ext cx="326850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D4A017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中华人民共和国象征 · 世界文化遗产</a:t>
            </a:r>
          </a:p>
        </p:txBody>
      </p:sp>
      <p:sp>
        <p:nvSpPr>
          <p:cNvPr id="52" name="Rectangle 52"/>
          <p:cNvSpPr/>
          <p:nvPr/>
        </p:nvSpPr>
        <p:spPr>
          <a:xfrm>
            <a:off x="4572000" y="4714875"/>
            <a:ext cx="3048000" cy="14288"/>
          </a:xfrm>
          <a:prstGeom prst="rect">
            <a:avLst/>
          </a:prstGeom>
          <a:gradFill>
            <a:gsLst>
              <a:gs pos="0">
                <a:srgbClr val="D4A017">
                  <a:alpha val="0"/>
                </a:srgbClr>
              </a:gs>
              <a:gs pos="20000">
                <a:srgbClr val="D4A017">
                  <a:alpha val="80000"/>
                </a:srgbClr>
              </a:gs>
              <a:gs pos="50000">
                <a:srgbClr val="D4A017"/>
              </a:gs>
              <a:gs pos="80000">
                <a:srgbClr val="D4A017">
                  <a:alpha val="80000"/>
                </a:srgbClr>
              </a:gs>
              <a:gs pos="100000">
                <a:srgbClr val="D4A017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62" name="Group 62"/>
          <p:cNvGrpSpPr/>
          <p:nvPr/>
        </p:nvGrpSpPr>
        <p:grpSpPr>
          <a:xfrm>
            <a:off x="523875" y="4953000"/>
            <a:ext cx="3524250" cy="1666875"/>
            <a:chOff x="523875" y="4953000"/>
            <a:chExt cx="3524250" cy="1666875"/>
          </a:xfrm>
          <a:effectLst>
            <a:outerShdw blurRad="152400" dist="38100" dir="5400000" algn="ctr" rotWithShape="0">
              <a:srgbClr val="000000">
                <a:alpha val="7500"/>
              </a:srgbClr>
            </a:outerShdw>
          </a:effectLst>
        </p:grpSpPr>
        <p:sp>
          <p:nvSpPr>
            <p:cNvPr id="53" name="Rectangle 53"/>
            <p:cNvSpPr/>
            <p:nvPr/>
          </p:nvSpPr>
          <p:spPr>
            <a:xfrm>
              <a:off x="523875" y="4953000"/>
              <a:ext cx="3524250" cy="1666875"/>
            </a:xfrm>
            <a:prstGeom prst="roundRect">
              <a:avLst>
                <a:gd name="adj" fmla="val 5714"/>
              </a:avLst>
            </a:prstGeom>
            <a:gradFill>
              <a:gsLst>
                <a:gs pos="0">
                  <a:srgbClr val="FFFFFF">
                    <a:alpha val="95000"/>
                  </a:srgbClr>
                </a:gs>
                <a:gs pos="100000">
                  <a:srgbClr val="FFFFFF">
                    <a:alpha val="90000"/>
                  </a:srgbClr>
                </a:gs>
              </a:gsLst>
              <a:lin ang="5400000" scaled="1"/>
            </a:gradFill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54" name="Rectangle 54"/>
            <p:cNvSpPr/>
            <p:nvPr/>
          </p:nvSpPr>
          <p:spPr>
            <a:xfrm>
              <a:off x="523875" y="495300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C41E3A"/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55" name="Ellipse 55"/>
            <p:cNvSpPr/>
            <p:nvPr/>
          </p:nvSpPr>
          <p:spPr>
            <a:xfrm>
              <a:off x="628650" y="5076825"/>
              <a:ext cx="266700" cy="266700"/>
            </a:xfrm>
            <a:prstGeom prst="ellipse">
              <a:avLst/>
            </a:prstGeom>
            <a:solidFill>
              <a:srgbClr val="C41E3A"/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56" name="TextBox 56"/>
            <p:cNvSpPr txBox="1"/>
            <p:nvPr/>
          </p:nvSpPr>
          <p:spPr>
            <a:xfrm>
              <a:off x="726612" y="5144452"/>
              <a:ext cx="70776" cy="21336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81075" y="5095875"/>
              <a:ext cx="1088231" cy="30480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0000"/>
                  </a:solidFill>
                  <a:latin typeface="Georgia"/>
                  <a:ea typeface="KaiTi"/>
                  <a:cs typeface="Georgia"/>
                </a:rPr>
                <a:t>天安门广场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1040" y="5392102"/>
              <a:ext cx="2560987" cy="21336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世界最大的城市广场，面积44万平方米，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1040" y="5601652"/>
              <a:ext cx="2406968" cy="21336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可容纳百万人集会。人民英雄纪念碑、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1040" y="5811202"/>
              <a:ext cx="2546985" cy="21336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毛主席纪念堂、国家博物馆、人民大会堂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1040" y="6020752"/>
              <a:ext cx="2266950" cy="21336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环绕四周，构成庄严宏伟的建筑群。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4333875" y="4953000"/>
            <a:ext cx="3524250" cy="1666875"/>
            <a:chOff x="4333875" y="4953000"/>
            <a:chExt cx="3524250" cy="1666875"/>
          </a:xfrm>
          <a:effectLst>
            <a:outerShdw blurRad="152400" dist="38100" dir="5400000" algn="ctr" rotWithShape="0">
              <a:srgbClr val="000000">
                <a:alpha val="7500"/>
              </a:srgbClr>
            </a:outerShdw>
          </a:effectLst>
        </p:grpSpPr>
        <p:sp>
          <p:nvSpPr>
            <p:cNvPr id="63" name="Rectangle 63"/>
            <p:cNvSpPr/>
            <p:nvPr/>
          </p:nvSpPr>
          <p:spPr>
            <a:xfrm>
              <a:off x="4333875" y="4953000"/>
              <a:ext cx="3524250" cy="1666875"/>
            </a:xfrm>
            <a:prstGeom prst="roundRect">
              <a:avLst>
                <a:gd name="adj" fmla="val 5714"/>
              </a:avLst>
            </a:prstGeom>
            <a:gradFill>
              <a:gsLst>
                <a:gs pos="0">
                  <a:srgbClr val="FFFFFF">
                    <a:alpha val="95000"/>
                  </a:srgbClr>
                </a:gs>
                <a:gs pos="100000">
                  <a:srgbClr val="FFFFFF">
                    <a:alpha val="90000"/>
                  </a:srgbClr>
                </a:gs>
              </a:gsLst>
              <a:lin ang="5400000" scaled="1"/>
            </a:gradFill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64" name="Rectangle 64"/>
            <p:cNvSpPr/>
            <p:nvPr/>
          </p:nvSpPr>
          <p:spPr>
            <a:xfrm>
              <a:off x="4333875" y="495300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D4A017"/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65" name="Ellipse 65"/>
            <p:cNvSpPr/>
            <p:nvPr/>
          </p:nvSpPr>
          <p:spPr>
            <a:xfrm>
              <a:off x="4438650" y="5076825"/>
              <a:ext cx="266700" cy="266700"/>
            </a:xfrm>
            <a:prstGeom prst="ellipse">
              <a:avLst/>
            </a:prstGeom>
            <a:solidFill>
              <a:srgbClr val="D4A017"/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66" name="TextBox 66"/>
            <p:cNvSpPr txBox="1"/>
            <p:nvPr/>
          </p:nvSpPr>
          <p:spPr>
            <a:xfrm>
              <a:off x="4518235" y="5144452"/>
              <a:ext cx="107530" cy="21336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791075" y="5095875"/>
              <a:ext cx="1088231" cy="30480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0000"/>
                  </a:solidFill>
                  <a:latin typeface="Georgia"/>
                  <a:ea typeface="KaiTi"/>
                  <a:cs typeface="Georgia"/>
                </a:rPr>
                <a:t>天安门城楼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511040" y="5392102"/>
              <a:ext cx="2364962" cy="21336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始建于明永乐十五年（1417年），原名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511040" y="5601652"/>
              <a:ext cx="2357961" cy="21336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"承天门"。清顺治八年重建改称"天安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511040" y="5811202"/>
              <a:ext cx="2371963" cy="21336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门"。城楼高34.7米，面阔九间、进深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511040" y="6020752"/>
              <a:ext cx="2280952" cy="21336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五间，象征"九五至尊"之尊贵地位。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143875" y="4953000"/>
            <a:ext cx="3524250" cy="1666875"/>
            <a:chOff x="8143875" y="4953000"/>
            <a:chExt cx="3524250" cy="1666875"/>
          </a:xfrm>
          <a:effectLst>
            <a:outerShdw blurRad="152400" dist="38100" dir="5400000" algn="ctr" rotWithShape="0">
              <a:srgbClr val="000000">
                <a:alpha val="7500"/>
              </a:srgbClr>
            </a:outerShdw>
          </a:effectLst>
        </p:grpSpPr>
        <p:sp>
          <p:nvSpPr>
            <p:cNvPr id="73" name="Rectangle 73"/>
            <p:cNvSpPr/>
            <p:nvPr/>
          </p:nvSpPr>
          <p:spPr>
            <a:xfrm>
              <a:off x="8143875" y="4953000"/>
              <a:ext cx="3524250" cy="1666875"/>
            </a:xfrm>
            <a:prstGeom prst="roundRect">
              <a:avLst>
                <a:gd name="adj" fmla="val 5714"/>
              </a:avLst>
            </a:prstGeom>
            <a:gradFill>
              <a:gsLst>
                <a:gs pos="0">
                  <a:srgbClr val="FFFFFF">
                    <a:alpha val="95000"/>
                  </a:srgbClr>
                </a:gs>
                <a:gs pos="100000">
                  <a:srgbClr val="FFFFFF">
                    <a:alpha val="90000"/>
                  </a:srgbClr>
                </a:gs>
              </a:gsLst>
              <a:lin ang="5400000" scaled="1"/>
            </a:gradFill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74" name="Rectangle 74"/>
            <p:cNvSpPr/>
            <p:nvPr/>
          </p:nvSpPr>
          <p:spPr>
            <a:xfrm>
              <a:off x="8143875" y="495300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8B0000"/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75" name="Ellipse 75"/>
            <p:cNvSpPr/>
            <p:nvPr/>
          </p:nvSpPr>
          <p:spPr>
            <a:xfrm>
              <a:off x="8248650" y="5076825"/>
              <a:ext cx="266700" cy="266700"/>
            </a:xfrm>
            <a:prstGeom prst="ellipse">
              <a:avLst/>
            </a:prstGeom>
            <a:solidFill>
              <a:srgbClr val="8B0000"/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76" name="TextBox 76"/>
            <p:cNvSpPr txBox="1"/>
            <p:nvPr/>
          </p:nvSpPr>
          <p:spPr>
            <a:xfrm>
              <a:off x="8328235" y="5144452"/>
              <a:ext cx="107530" cy="21336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601075" y="5095875"/>
              <a:ext cx="878205" cy="30480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0000"/>
                  </a:solidFill>
                  <a:latin typeface="Georgia"/>
                  <a:ea typeface="KaiTi"/>
                  <a:cs typeface="Georgia"/>
                </a:rPr>
                <a:t>历史意义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321040" y="5392102"/>
              <a:ext cx="2280952" cy="21336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1949年10月1日，毛泽东主席在此宣告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21040" y="5601652"/>
              <a:ext cx="2406968" cy="21336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中华人民共和国成立。天安门成为新中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321040" y="5811202"/>
              <a:ext cx="2406968" cy="21336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国诞生的见证者，承载着中华民族的复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321040" y="6020752"/>
              <a:ext cx="1706880" cy="21336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兴梦想与深厚的爱国情怀。</a:t>
              </a:r>
            </a:p>
          </p:txBody>
        </p:sp>
      </p:grpSp>
      <p:sp>
        <p:nvSpPr>
          <p:cNvPr id="83" name="Rectangle 83"/>
          <p:cNvSpPr/>
          <p:nvPr/>
        </p:nvSpPr>
        <p:spPr>
          <a:xfrm>
            <a:off x="0" y="6800850"/>
            <a:ext cx="12192000" cy="28575"/>
          </a:xfrm>
          <a:prstGeom prst="rect">
            <a:avLst/>
          </a:prstGeom>
          <a:solidFill>
            <a:srgbClr val="D4A017">
              <a:alpha val="50000"/>
            </a:srgbClr>
          </a:solidFill>
          <a:ln>
            <a:noFill/>
          </a:ln>
        </p:spPr>
      </p:sp>
      <p:sp>
        <p:nvSpPr>
          <p:cNvPr id="84" name="Rectangle 8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C41E3A">
              <a:alpha val="7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62" grpId="0"/>
      <p:bldP spid="72" grpId="0"/>
      <p:bldP spid="8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